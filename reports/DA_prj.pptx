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8605F-F76C-4870-A836-7FC0233CB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919090E-CDA9-4291-9FFF-9AE39D0C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6DFCD9-E87E-4DFA-BE87-144D7D4A9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706760-5B40-4625-8A3F-2C07F1C7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CDB835-969B-457E-95AD-D416F1455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165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5B2A42-B4CC-4CBD-9A0E-C1B2BA45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7B874F-D820-4A8B-B870-2882CD28B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70C16-D8CF-4AE0-B870-F95C2B2E8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7A9C09-034E-4210-BD88-11E6290E4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5F7BC4-900D-44FE-AEBB-1D58A60B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096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B8EB80-FF7E-45F6-BBE4-10BFFF0B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DC4B02B-99CF-4FEA-B6DE-7281B4A14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E26572-DECA-49EB-80F4-CF1488111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554D51-18B3-4B0E-8C37-365C3C5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8A9E80-C589-45E6-96C8-814692949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77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83591-0C92-4F17-B900-0B6E0E488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D56B9D-786B-48C8-A47E-26D98269A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9977E55-DB02-4C20-9730-B4E0CFA49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E95B8CC-DB00-474D-ABF6-9C82A0FF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5F05F7-5052-4CA3-8020-41844EC31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BCD362-01AB-4DE9-A8C6-B10AF7CC7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242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347A0-78E8-4693-A8DC-D93DEF9A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F5E19C-9DF9-4C14-855F-5BDC3520E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3F9EFCB-909A-401C-84D5-8B98B06F5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1ECE92-EF37-45FC-945B-E4629DAD7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920770-1A19-4193-8FF5-69B9812DB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5F6644D-86F7-42FC-9B63-59EE3F37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756E3DA-AEBA-499D-B085-01205A5C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AFF4FC-086D-4B47-A0A0-440318B17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9631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0E310-E93E-4BB4-96A3-8978CB16A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C7F0E0-FA19-47DD-AB0F-0E51F52D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E735E0-4D2D-4C00-B97E-9D16E87B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4B2E96-1C64-4F8E-9977-3F5EEF9D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985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DB2298E-D940-441C-B8A3-2F9AD75CF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64F628F-4B74-4AB1-8FC8-5CDB12672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D8B3C4-DF0A-4726-9705-8CBBCB0D7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2729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738B9E-7254-4F68-A8B9-F05869F23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8C336C-C0DD-4743-97A1-36789AC63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D02A2E-7650-4A95-B6C1-FCC422ECC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F0DA4B-B8A8-4482-9BB8-27D33263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55C9AB-60D0-4DB0-B3A4-C11AA9F20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B04D3B-EF77-461B-ACCE-19E2CC12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214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CB9457-B1DB-4115-AF25-E3DF7AAA9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EA3FEA2-36C6-47F1-93D2-020AB5B47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ED8A1A-78E4-422A-9CE6-9280BF582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61B0F5-10AF-4EFD-88AD-06FA73C45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25C8E23-8C63-4FF4-83B9-B722E1E9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9A3055-861E-420A-A5B4-2D5B24999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30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469965-1307-4FD6-B545-801477B4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668F3C-C551-4D8E-9BDF-1C28D19B8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F830BC-7DC6-4AD5-909F-353741FBA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BFA8D8-4EE0-4FA9-B6C2-90B56413F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B85A83-3A77-401B-9C5D-7BC52FE9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105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A616C5D-B1F3-4306-8190-34ABF0484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30CA75-56F5-4FDA-996B-D571F85AE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B50FDE-AABA-493D-BA50-821B7437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7AD2B-5133-47A7-8B6D-BB3FC0DE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CE3EA4-9CE0-453D-8403-A582DE05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394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D47807-1B2E-46E2-8F73-AD1D8178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81D089-0897-48AB-859C-E032D2896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02FA3A-A851-4ABC-94F7-E8E625550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6D560-8E51-49D5-A455-4982B8E24810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27EDDC-3670-4A73-BA5A-227D21AE4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9D079D-7161-4E45-9951-670C49068F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ED60-71B7-44A0-B71D-EE44A7883F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022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data-sakit/data-analyst-projec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B73F39F-2CB8-4DF2-9856-576462ACDA57}"/>
              </a:ext>
            </a:extLst>
          </p:cNvPr>
          <p:cNvSpPr/>
          <p:nvPr/>
        </p:nvSpPr>
        <p:spPr>
          <a:xfrm>
            <a:off x="9787154" y="6168839"/>
            <a:ext cx="2059411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ru-RU" sz="2000"/>
              <a:t>Date</a:t>
            </a:r>
            <a:r>
              <a:rPr lang="en-US" sz="2000"/>
              <a:t>:</a:t>
            </a:r>
            <a:r>
              <a:rPr lang="en-US" sz="2000" dirty="0"/>
              <a:t>December 27, 2025</a:t>
            </a:r>
            <a:endParaRPr lang="ru-RU" sz="2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3BBC175-656F-4B2D-889A-D28A60F0371E}"/>
              </a:ext>
            </a:extLst>
          </p:cNvPr>
          <p:cNvSpPr/>
          <p:nvPr/>
        </p:nvSpPr>
        <p:spPr>
          <a:xfrm>
            <a:off x="602511" y="3352684"/>
            <a:ext cx="648940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2000" b="1" dirty="0">
                <a:effectLst/>
              </a:rPr>
              <a:t>Main stages of the project</a:t>
            </a:r>
            <a:r>
              <a:rPr lang="en-US" sz="2000" b="1" dirty="0">
                <a:effectLst/>
              </a:rPr>
              <a:t>:</a:t>
            </a:r>
            <a:endParaRPr lang="ru-RU" sz="2000" b="1" dirty="0">
              <a:effectLst/>
            </a:endParaRP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Loading and filtering data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Pre-treatment and cleaning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Restoring clients' gender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A/B testing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Clustering of the client base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Client cluster profiles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Propensity to purchase model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Visualization and conclusions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ru-RU" sz="2000" dirty="0">
                <a:effectLst/>
              </a:rPr>
              <a:t>Final recommendations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462337" y="289051"/>
            <a:ext cx="1160948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4000" dirty="0"/>
              <a:t>Analytical project:</a:t>
            </a:r>
          </a:p>
          <a:p>
            <a:pPr algn="ctr" rtl="0"/>
            <a:r>
              <a:rPr lang="ru-RU" sz="4000" dirty="0"/>
              <a:t>Customer analysis, A/B testing, and ML models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800" dirty="0"/>
              <a:t>Full analysis cycle: from data to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32876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2190309" y="196718"/>
            <a:ext cx="82933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3200" dirty="0"/>
              <a:t>Loading and filtering data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CF9B16-6B38-4BF7-918C-98319749E295}"/>
              </a:ext>
            </a:extLst>
          </p:cNvPr>
          <p:cNvSpPr/>
          <p:nvPr/>
        </p:nvSpPr>
        <p:spPr>
          <a:xfrm>
            <a:off x="467833" y="856357"/>
            <a:ext cx="114618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2400" dirty="0"/>
              <a:t>Goal of the stage:</a:t>
            </a:r>
          </a:p>
          <a:p>
            <a:pPr algn="ctr" rtl="0"/>
            <a:r>
              <a:rPr lang="ru-RU" sz="2000" dirty="0"/>
              <a:t>Connect to the database, load tables and filter clients by country 32</a:t>
            </a:r>
            <a:r>
              <a:rPr lang="ru-RU" sz="2400" dirty="0"/>
              <a:t>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24324F-9742-426A-8E0F-5D608A4078AD}"/>
              </a:ext>
            </a:extLst>
          </p:cNvPr>
          <p:cNvSpPr/>
          <p:nvPr/>
        </p:nvSpPr>
        <p:spPr>
          <a:xfrm>
            <a:off x="467833" y="1955843"/>
            <a:ext cx="562816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Actions: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Connecting to </a:t>
            </a:r>
            <a:r>
              <a:rPr lang="ru-RU" sz="1600" dirty="0" err="1"/>
              <a:t>the</a:t>
            </a:r>
            <a:r>
              <a:rPr lang="ru-RU" sz="1600" dirty="0"/>
              <a:t> </a:t>
            </a:r>
            <a:r>
              <a:rPr lang="ru-RU" sz="1600" dirty="0" err="1"/>
              <a:t>database</a:t>
            </a:r>
            <a:r>
              <a:rPr lang="ru-RU" sz="1600" dirty="0"/>
              <a:t> </a:t>
            </a:r>
            <a:r>
              <a:rPr lang="ru-RU" sz="1600" dirty="0" err="1"/>
              <a:t>shop_database.db</a:t>
            </a:r>
            <a:endParaRPr lang="ru-RU" sz="1600" dirty="0"/>
          </a:p>
          <a:p>
            <a:pPr algn="l" rtl="0"/>
            <a:endParaRPr lang="ru-RU" sz="1600" dirty="0"/>
          </a:p>
          <a:p>
            <a:pPr algn="l" rtl="0"/>
            <a:r>
              <a:rPr lang="ru-RU" sz="1600" dirty="0" err="1"/>
              <a:t>Loading</a:t>
            </a:r>
            <a:r>
              <a:rPr lang="ru-RU" sz="1600" dirty="0"/>
              <a:t> </a:t>
            </a:r>
            <a:r>
              <a:rPr lang="ru-RU" sz="1600" dirty="0" err="1"/>
              <a:t>tables</a:t>
            </a:r>
            <a:r>
              <a:rPr lang="ru-RU" sz="1600" dirty="0"/>
              <a:t>: </a:t>
            </a:r>
            <a:r>
              <a:rPr lang="ru-RU" sz="1600" dirty="0" err="1"/>
              <a:t>personal_datapersonal_data_coeffs</a:t>
            </a:r>
            <a:r>
              <a:rPr lang="ru-RU" sz="1600" dirty="0"/>
              <a:t> </a:t>
            </a:r>
            <a:r>
              <a:rPr lang="ru-RU" sz="1600" dirty="0" err="1"/>
              <a:t>purchases</a:t>
            </a:r>
            <a:endParaRPr lang="ru-RU" sz="1600" dirty="0"/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Downloading the additional file personal_data.csv.gz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Filter </a:t>
            </a:r>
            <a:r>
              <a:rPr lang="ru-RU" sz="1600" dirty="0" err="1"/>
              <a:t>by</a:t>
            </a:r>
            <a:r>
              <a:rPr lang="ru-RU" sz="1600" dirty="0"/>
              <a:t> </a:t>
            </a:r>
            <a:r>
              <a:rPr lang="ru-RU" sz="1600" dirty="0" err="1"/>
              <a:t>country</a:t>
            </a:r>
            <a:r>
              <a:rPr lang="ru-RU" sz="1600" dirty="0"/>
              <a:t> </a:t>
            </a:r>
            <a:r>
              <a:rPr lang="ru-RU" sz="1600" dirty="0" err="1"/>
              <a:t>country</a:t>
            </a:r>
            <a:r>
              <a:rPr lang="ru-RU" sz="1600" dirty="0"/>
              <a:t>= 32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 err="1"/>
              <a:t>Synchronization</a:t>
            </a:r>
            <a:r>
              <a:rPr lang="ru-RU" sz="1600" dirty="0"/>
              <a:t> </a:t>
            </a:r>
            <a:r>
              <a:rPr lang="ru-RU" sz="1600" dirty="0" err="1"/>
              <a:t>by</a:t>
            </a:r>
            <a:r>
              <a:rPr lang="ru-RU" sz="1600" dirty="0"/>
              <a:t> ID </a:t>
            </a:r>
            <a:r>
              <a:rPr lang="ru-RU" sz="1600" dirty="0" err="1"/>
              <a:t>between</a:t>
            </a:r>
            <a:r>
              <a:rPr lang="ru-RU" sz="1600" dirty="0"/>
              <a:t> tables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615E0A-73E3-44ED-9EF9-0427265D0949}"/>
              </a:ext>
            </a:extLst>
          </p:cNvPr>
          <p:cNvSpPr/>
          <p:nvPr/>
        </p:nvSpPr>
        <p:spPr>
          <a:xfrm>
            <a:off x="7130904" y="2339102"/>
            <a:ext cx="493704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Results: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Clients after filtering: 88,786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Purchases after filtering: 665,000+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Removed: 455 </a:t>
            </a:r>
            <a:r>
              <a:rPr lang="ru-RU" sz="1600" dirty="0" err="1"/>
              <a:t>lines</a:t>
            </a:r>
            <a:r>
              <a:rPr lang="ru-RU" sz="1600" dirty="0"/>
              <a:t> </a:t>
            </a:r>
            <a:r>
              <a:rPr lang="ru-RU" sz="1600" dirty="0" err="1"/>
              <a:t>from</a:t>
            </a:r>
            <a:r>
              <a:rPr lang="ru-RU" sz="1600" dirty="0"/>
              <a:t> </a:t>
            </a:r>
            <a:r>
              <a:rPr lang="ru-RU" sz="1600" dirty="0" err="1"/>
              <a:t>personal_data</a:t>
            </a:r>
            <a:r>
              <a:rPr lang="ru-RU" sz="1600" dirty="0"/>
              <a:t>(0.5%)</a:t>
            </a:r>
          </a:p>
          <a:p>
            <a:pPr algn="l" rtl="0"/>
            <a:endParaRPr lang="ru-RU" sz="2400" dirty="0"/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F4ED5807-3A4C-4036-BA66-FAA9B57D145B}"/>
              </a:ext>
            </a:extLst>
          </p:cNvPr>
          <p:cNvSpPr/>
          <p:nvPr/>
        </p:nvSpPr>
        <p:spPr>
          <a:xfrm>
            <a:off x="6337006" y="3689498"/>
            <a:ext cx="552892" cy="4146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47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2190309" y="196718"/>
            <a:ext cx="82933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3200" dirty="0"/>
              <a:t>Data preprocessing and cleaning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CF9B16-6B38-4BF7-918C-98319749E295}"/>
              </a:ext>
            </a:extLst>
          </p:cNvPr>
          <p:cNvSpPr/>
          <p:nvPr/>
        </p:nvSpPr>
        <p:spPr>
          <a:xfrm>
            <a:off x="467833" y="856357"/>
            <a:ext cx="1146189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2400" dirty="0"/>
              <a:t>Goal of the stage:</a:t>
            </a:r>
          </a:p>
          <a:p>
            <a:pPr algn="ctr" rtl="0"/>
            <a:r>
              <a:rPr lang="ru-RU" sz="2000" dirty="0"/>
              <a:t>Cleanse data of gaps and anomalies and bring it into a unified format for analysis.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24324F-9742-426A-8E0F-5D608A4078AD}"/>
              </a:ext>
            </a:extLst>
          </p:cNvPr>
          <p:cNvSpPr/>
          <p:nvPr/>
        </p:nvSpPr>
        <p:spPr>
          <a:xfrm>
            <a:off x="467833" y="1955843"/>
            <a:ext cx="56281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Actions: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Fill in the blanks:</a:t>
            </a:r>
          </a:p>
          <a:p>
            <a:pPr algn="l" rtl="0"/>
            <a:r>
              <a:rPr lang="en-US" sz="1600" dirty="0"/>
              <a:t>color: 101,589</a:t>
            </a:r>
            <a:r>
              <a:rPr lang="ru-RU" sz="1600" dirty="0"/>
              <a:t> </a:t>
            </a:r>
            <a:r>
              <a:rPr lang="ru-RU" sz="1600" dirty="0" err="1"/>
              <a:t>omissions</a:t>
            </a:r>
            <a:r>
              <a:rPr lang="ru-RU" sz="1600" dirty="0"/>
              <a:t> → replaced by '</a:t>
            </a:r>
            <a:r>
              <a:rPr lang="en-US" sz="1600" dirty="0"/>
              <a:t>unknown</a:t>
            </a:r>
            <a:endParaRPr lang="ru-RU" sz="1600" dirty="0"/>
          </a:p>
          <a:p>
            <a:pPr algn="l" rtl="0"/>
            <a:r>
              <a:rPr lang="en-US" sz="1600" dirty="0" err="1"/>
              <a:t>product_sex</a:t>
            </a:r>
            <a:r>
              <a:rPr lang="en-US" sz="1600" dirty="0"/>
              <a:t>: 266,512</a:t>
            </a:r>
            <a:r>
              <a:rPr lang="ru-RU" sz="1600" dirty="0"/>
              <a:t> </a:t>
            </a:r>
            <a:r>
              <a:rPr lang="ru-RU" sz="1600" dirty="0" err="1"/>
              <a:t>gaps</a:t>
            </a:r>
            <a:r>
              <a:rPr lang="ru-RU" sz="1600" dirty="0"/>
              <a:t> → filled with fashion (1.0)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Color simplification: </a:t>
            </a:r>
            <a:r>
              <a:rPr lang="ru-RU" sz="1600" dirty="0" err="1"/>
              <a:t>highlighted</a:t>
            </a:r>
            <a:r>
              <a:rPr lang="ru-RU" sz="1600" dirty="0"/>
              <a:t> </a:t>
            </a:r>
            <a:r>
              <a:rPr lang="en-US" sz="1600" dirty="0" err="1"/>
              <a:t>color_simple</a:t>
            </a:r>
            <a:r>
              <a:rPr lang="en-US" sz="1600" dirty="0"/>
              <a:t>(</a:t>
            </a:r>
            <a:r>
              <a:rPr lang="ru-RU" sz="1600" dirty="0"/>
              <a:t>first color before /)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Correction of negative cost values: 3 cases → replaced with a module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 err="1"/>
              <a:t>Processing</a:t>
            </a:r>
            <a:r>
              <a:rPr lang="ru-RU" sz="1600" dirty="0"/>
              <a:t> </a:t>
            </a:r>
            <a:r>
              <a:rPr lang="en-US" sz="1600" dirty="0" err="1"/>
              <a:t>ac_coef</a:t>
            </a:r>
            <a:r>
              <a:rPr lang="en-US" sz="1600" dirty="0"/>
              <a:t>: 40</a:t>
            </a:r>
            <a:r>
              <a:rPr lang="ru-RU" sz="1600" dirty="0"/>
              <a:t>values ​​-</a:t>
            </a:r>
            <a:r>
              <a:rPr lang="en-US" sz="1600" dirty="0"/>
              <a:t>inf →</a:t>
            </a:r>
            <a:r>
              <a:rPr lang="ru-RU" sz="1600" dirty="0"/>
              <a:t>replaced by the median (0.1032)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Creating purchase </a:t>
            </a:r>
            <a:r>
              <a:rPr lang="ru-RU" sz="1600" dirty="0" err="1"/>
              <a:t>aggregates</a:t>
            </a:r>
            <a:r>
              <a:rPr lang="ru-RU" sz="1600" dirty="0"/>
              <a:t>: </a:t>
            </a:r>
            <a:r>
              <a:rPr lang="en-US" sz="1600" dirty="0" err="1"/>
              <a:t>total_purchases</a:t>
            </a:r>
            <a:r>
              <a:rPr lang="en-US" sz="1600" dirty="0"/>
              <a:t>,</a:t>
            </a:r>
            <a:r>
              <a:rPr lang="ru-RU" sz="1600" dirty="0"/>
              <a:t> </a:t>
            </a:r>
            <a:r>
              <a:rPr lang="en-US" sz="1600" dirty="0" err="1"/>
              <a:t>total_spent</a:t>
            </a:r>
            <a:r>
              <a:rPr lang="en-US" sz="1600" dirty="0"/>
              <a:t>,</a:t>
            </a:r>
            <a:r>
              <a:rPr lang="ru-RU" sz="1600" dirty="0"/>
              <a:t> </a:t>
            </a:r>
            <a:r>
              <a:rPr lang="en-US" sz="1600" dirty="0" err="1"/>
              <a:t>discount_rate</a:t>
            </a:r>
            <a:r>
              <a:rPr lang="en-US" sz="1600" dirty="0"/>
              <a:t>,</a:t>
            </a:r>
            <a:r>
              <a:rPr lang="ru-RU" sz="1600" dirty="0"/>
              <a:t> </a:t>
            </a:r>
            <a:r>
              <a:rPr lang="en-US" sz="1600" dirty="0" err="1"/>
              <a:t>avg_product_sex</a:t>
            </a:r>
            <a:r>
              <a:rPr lang="ru-RU" sz="1600" dirty="0"/>
              <a:t> </a:t>
            </a:r>
            <a:r>
              <a:rPr lang="en-US" sz="1600" dirty="0" err="1"/>
              <a:t>first_purchase_day</a:t>
            </a:r>
            <a:r>
              <a:rPr lang="en-US" sz="1600" dirty="0"/>
              <a:t>,</a:t>
            </a:r>
            <a:r>
              <a:rPr lang="ru-RU" sz="1600" dirty="0"/>
              <a:t> </a:t>
            </a:r>
            <a:r>
              <a:rPr lang="en-US" sz="1600" dirty="0" err="1"/>
              <a:t>last_purchase_day</a:t>
            </a:r>
            <a:endParaRPr lang="ru-RU" sz="16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615E0A-73E3-44ED-9EF9-0427265D0949}"/>
              </a:ext>
            </a:extLst>
          </p:cNvPr>
          <p:cNvSpPr/>
          <p:nvPr/>
        </p:nvSpPr>
        <p:spPr>
          <a:xfrm>
            <a:off x="7130904" y="2339102"/>
            <a:ext cx="4937049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Results: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 err="1"/>
              <a:t>Final</a:t>
            </a:r>
            <a:r>
              <a:rPr lang="ru-RU" sz="1600" dirty="0"/>
              <a:t> </a:t>
            </a:r>
            <a:r>
              <a:rPr lang="ru-RU" sz="1600" dirty="0" err="1"/>
              <a:t>data</a:t>
            </a:r>
            <a:r>
              <a:rPr lang="ru-RU" sz="1600" dirty="0"/>
              <a:t> </a:t>
            </a:r>
            <a:r>
              <a:rPr lang="ru-RU" sz="1600" dirty="0" err="1"/>
              <a:t>frame</a:t>
            </a:r>
            <a:r>
              <a:rPr lang="ru-RU" sz="1600" dirty="0"/>
              <a:t>: 88,786 clients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Data gaps: 0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Average spending per client: 40,543 ₽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Average number of purchases: 7.49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Share of customers who used discounts: 74.6% Customers without purchases: 0</a:t>
            </a:r>
          </a:p>
          <a:p>
            <a:pPr algn="l" rtl="0"/>
            <a:endParaRPr lang="ru-RU" sz="2400" dirty="0"/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F4ED5807-3A4C-4036-BA66-FAA9B57D145B}"/>
              </a:ext>
            </a:extLst>
          </p:cNvPr>
          <p:cNvSpPr/>
          <p:nvPr/>
        </p:nvSpPr>
        <p:spPr>
          <a:xfrm>
            <a:off x="6337006" y="3689498"/>
            <a:ext cx="552892" cy="4146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559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2190309" y="196718"/>
            <a:ext cx="82933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3200" dirty="0"/>
              <a:t>Restoring clients' gender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CF9B16-6B38-4BF7-918C-98319749E295}"/>
              </a:ext>
            </a:extLst>
          </p:cNvPr>
          <p:cNvSpPr/>
          <p:nvPr/>
        </p:nvSpPr>
        <p:spPr>
          <a:xfrm>
            <a:off x="95693" y="856357"/>
            <a:ext cx="119722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2400" dirty="0"/>
              <a:t>Goal of the stage:</a:t>
            </a:r>
          </a:p>
          <a:p>
            <a:pPr algn="ctr" rtl="0"/>
            <a:r>
              <a:rPr lang="ru-RU" sz="2000" dirty="0">
                <a:effectLst/>
              </a:rPr>
              <a:t>Recover missing client gender from supplementary file using machine learning model.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24324F-9742-426A-8E0F-5D608A4078AD}"/>
              </a:ext>
            </a:extLst>
          </p:cNvPr>
          <p:cNvSpPr/>
          <p:nvPr/>
        </p:nvSpPr>
        <p:spPr>
          <a:xfrm>
            <a:off x="467833" y="1955843"/>
            <a:ext cx="56281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Actions: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32 clients of known gender were used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 err="1"/>
              <a:t>Selected</a:t>
            </a:r>
            <a:r>
              <a:rPr lang="ru-RU" sz="1600" dirty="0"/>
              <a:t> </a:t>
            </a:r>
            <a:r>
              <a:rPr lang="ru-RU" sz="1600" dirty="0" err="1"/>
              <a:t>signs</a:t>
            </a:r>
            <a:r>
              <a:rPr lang="ru-RU" sz="1600" dirty="0"/>
              <a:t>: </a:t>
            </a:r>
            <a:r>
              <a:rPr lang="ru-RU" sz="1600" dirty="0" err="1"/>
              <a:t>age</a:t>
            </a:r>
            <a:r>
              <a:rPr lang="ru-RU" sz="1600" dirty="0"/>
              <a:t>(</a:t>
            </a:r>
            <a:r>
              <a:rPr lang="en-US" sz="1600" dirty="0"/>
              <a:t>age)</a:t>
            </a:r>
            <a:r>
              <a:rPr lang="ru-RU" sz="1600" dirty="0"/>
              <a:t>education (</a:t>
            </a:r>
            <a:r>
              <a:rPr lang="en-US" sz="1600" dirty="0"/>
              <a:t>education)</a:t>
            </a:r>
            <a:r>
              <a:rPr lang="ru-RU" sz="1600" dirty="0"/>
              <a:t>city ​​(</a:t>
            </a:r>
            <a:r>
              <a:rPr lang="en-US" sz="1600" dirty="0"/>
              <a:t>city)</a:t>
            </a:r>
            <a:r>
              <a:rPr lang="ru-RU" sz="1600" dirty="0"/>
              <a:t>country (</a:t>
            </a:r>
            <a:r>
              <a:rPr lang="en-US" sz="1600" dirty="0"/>
              <a:t>country)</a:t>
            </a:r>
            <a:endParaRPr lang="ru-RU" sz="1600" dirty="0"/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Sign encoded</a:t>
            </a:r>
            <a:r>
              <a:rPr lang="en-US" sz="1600" dirty="0"/>
              <a:t>education (One‑Hot Encoding)</a:t>
            </a:r>
            <a:endParaRPr lang="ru-RU" sz="1600" dirty="0"/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Splitting data into</a:t>
            </a:r>
            <a:r>
              <a:rPr lang="en-US" sz="1600" dirty="0"/>
              <a:t>train/validation</a:t>
            </a:r>
            <a:endParaRPr lang="ru-RU" sz="1600" dirty="0"/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Two models were trained:</a:t>
            </a:r>
            <a:r>
              <a:rPr lang="en-US" sz="1600" dirty="0"/>
              <a:t>Logistic</a:t>
            </a:r>
            <a:r>
              <a:rPr lang="ru-RU" sz="1600" dirty="0"/>
              <a:t> </a:t>
            </a:r>
            <a:r>
              <a:rPr lang="en-US" sz="1600" dirty="0" err="1"/>
              <a:t>RegressionRandomForest</a:t>
            </a:r>
            <a:endParaRPr lang="ru-RU" sz="1600" dirty="0"/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The best model by metric was selected</a:t>
            </a:r>
            <a:r>
              <a:rPr lang="en-US" sz="1600" dirty="0"/>
              <a:t>F1</a:t>
            </a:r>
            <a:endParaRPr lang="ru-RU" sz="16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615E0A-73E3-44ED-9EF9-0427265D0949}"/>
              </a:ext>
            </a:extLst>
          </p:cNvPr>
          <p:cNvSpPr/>
          <p:nvPr/>
        </p:nvSpPr>
        <p:spPr>
          <a:xfrm>
            <a:off x="7130904" y="2008439"/>
            <a:ext cx="493704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Results: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Training sample size: 88,786 clients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Additional clients for prediction: 15,748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Best Model:</a:t>
            </a:r>
            <a:r>
              <a:rPr lang="ru-RU" sz="1600" dirty="0" err="1"/>
              <a:t>Random</a:t>
            </a:r>
            <a:r>
              <a:rPr lang="ru-RU" sz="1600" dirty="0"/>
              <a:t> </a:t>
            </a:r>
            <a:r>
              <a:rPr lang="ru-RU" sz="1600" dirty="0" err="1"/>
              <a:t>Forest</a:t>
            </a:r>
            <a:endParaRPr lang="ru-RU" sz="1600" dirty="0"/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Metrics:</a:t>
            </a:r>
          </a:p>
          <a:p>
            <a:pPr algn="l" rtl="0"/>
            <a:r>
              <a:rPr lang="ru-RU" sz="1600" dirty="0"/>
              <a:t>F1 on validation: 0.5695</a:t>
            </a:r>
          </a:p>
          <a:p>
            <a:pPr algn="l" rtl="0"/>
            <a:r>
              <a:rPr lang="ru-RU" sz="1600" dirty="0"/>
              <a:t>F1 </a:t>
            </a:r>
            <a:r>
              <a:rPr lang="ru-RU" sz="1600" dirty="0" err="1"/>
              <a:t>on</a:t>
            </a:r>
            <a:r>
              <a:rPr lang="ru-RU" sz="1600" dirty="0"/>
              <a:t> </a:t>
            </a:r>
            <a:r>
              <a:rPr lang="ru-RU" sz="1600" dirty="0" err="1"/>
              <a:t>full</a:t>
            </a:r>
            <a:r>
              <a:rPr lang="ru-RU" sz="1600" dirty="0"/>
              <a:t> </a:t>
            </a:r>
            <a:r>
              <a:rPr lang="ru-RU" sz="1600" dirty="0" err="1"/>
              <a:t>train</a:t>
            </a:r>
            <a:r>
              <a:rPr lang="ru-RU" sz="1600" dirty="0"/>
              <a:t>: 0.6262</a:t>
            </a:r>
          </a:p>
          <a:p>
            <a:pPr algn="l" rtl="0"/>
            <a:r>
              <a:rPr lang="ru-RU" sz="1600" dirty="0" err="1"/>
              <a:t>Accuracy</a:t>
            </a:r>
            <a:r>
              <a:rPr lang="ru-RU" sz="1600" dirty="0"/>
              <a:t> </a:t>
            </a:r>
            <a:r>
              <a:rPr lang="ru-RU" sz="1600" dirty="0" err="1"/>
              <a:t>in</a:t>
            </a:r>
            <a:r>
              <a:rPr lang="ru-RU" sz="1600" dirty="0"/>
              <a:t> </a:t>
            </a:r>
            <a:r>
              <a:rPr lang="ru-RU" sz="1600" dirty="0" err="1"/>
              <a:t>full</a:t>
            </a:r>
            <a:r>
              <a:rPr lang="ru-RU" sz="1600" dirty="0"/>
              <a:t> </a:t>
            </a:r>
            <a:r>
              <a:rPr lang="ru-RU" sz="1600" dirty="0" err="1"/>
              <a:t>train</a:t>
            </a:r>
            <a:r>
              <a:rPr lang="ru-RU" sz="1600" dirty="0"/>
              <a:t>: 0.6091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The floor has been successfully restored for all additional file clients.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The result is saved in gender_predictions.csv</a:t>
            </a:r>
            <a:endParaRPr lang="ru-RU" sz="2400" dirty="0"/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F4ED5807-3A4C-4036-BA66-FAA9B57D145B}"/>
              </a:ext>
            </a:extLst>
          </p:cNvPr>
          <p:cNvSpPr/>
          <p:nvPr/>
        </p:nvSpPr>
        <p:spPr>
          <a:xfrm>
            <a:off x="6337006" y="3689498"/>
            <a:ext cx="552892" cy="4146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94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2190309" y="196718"/>
            <a:ext cx="82933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en-US" sz="3200" dirty="0"/>
              <a:t>A/B‑</a:t>
            </a:r>
            <a:r>
              <a:rPr lang="ru-RU" sz="3200" dirty="0"/>
              <a:t>test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CF9B16-6B38-4BF7-918C-98319749E295}"/>
              </a:ext>
            </a:extLst>
          </p:cNvPr>
          <p:cNvSpPr/>
          <p:nvPr/>
        </p:nvSpPr>
        <p:spPr>
          <a:xfrm>
            <a:off x="95693" y="856357"/>
            <a:ext cx="119722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2400" dirty="0"/>
              <a:t>Goal of the stage:</a:t>
            </a:r>
          </a:p>
          <a:p>
            <a:pPr algn="ctr" rtl="0"/>
            <a:r>
              <a:rPr lang="ru-RU" sz="2000" dirty="0">
                <a:effectLst/>
              </a:rPr>
              <a:t>Assess the impact of a personalized discount on customer behavior using an A/B test.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24324F-9742-426A-8E0F-5D608A4078AD}"/>
              </a:ext>
            </a:extLst>
          </p:cNvPr>
          <p:cNvSpPr/>
          <p:nvPr/>
        </p:nvSpPr>
        <p:spPr>
          <a:xfrm>
            <a:off x="453656" y="2412225"/>
            <a:ext cx="562816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Actions: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Loading</a:t>
            </a:r>
            <a:r>
              <a:rPr lang="en-US" sz="1600" dirty="0"/>
              <a:t>ID</a:t>
            </a:r>
            <a:r>
              <a:rPr lang="ru-RU" sz="1600" dirty="0"/>
              <a:t>from files:</a:t>
            </a:r>
          </a:p>
          <a:p>
            <a:pPr algn="l" rtl="0"/>
            <a:r>
              <a:rPr lang="en-US" sz="1600" dirty="0"/>
              <a:t>ids_first_company_positive.txt —</a:t>
            </a:r>
            <a:r>
              <a:rPr lang="ru-RU" sz="1600" dirty="0"/>
              <a:t>test group</a:t>
            </a:r>
          </a:p>
          <a:p>
            <a:pPr algn="l" rtl="0"/>
            <a:r>
              <a:rPr lang="en-US" sz="1600" dirty="0"/>
              <a:t>ids_first_company_negative.txt —</a:t>
            </a:r>
            <a:r>
              <a:rPr lang="ru-RU" sz="1600" dirty="0"/>
              <a:t>control group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Comparison</a:t>
            </a:r>
            <a:r>
              <a:rPr lang="en-US" sz="1600" dirty="0"/>
              <a:t>ID</a:t>
            </a:r>
            <a:r>
              <a:rPr lang="ru-RU" sz="1600" dirty="0"/>
              <a:t>with clients from 32 countries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 err="1"/>
              <a:t>Formation</a:t>
            </a:r>
            <a:r>
              <a:rPr lang="ru-RU" sz="1600" dirty="0"/>
              <a:t> </a:t>
            </a:r>
            <a:r>
              <a:rPr lang="ru-RU" sz="1600" dirty="0" err="1"/>
              <a:t>data</a:t>
            </a:r>
            <a:r>
              <a:rPr lang="ru-RU" sz="1600" dirty="0"/>
              <a:t> </a:t>
            </a:r>
            <a:r>
              <a:rPr lang="ru-RU" sz="1600" dirty="0" err="1"/>
              <a:t>frame</a:t>
            </a:r>
            <a:r>
              <a:rPr lang="ru-RU" sz="1600" dirty="0"/>
              <a:t> </a:t>
            </a:r>
            <a:r>
              <a:rPr lang="en-US" sz="1600" dirty="0" err="1"/>
              <a:t>ab_data</a:t>
            </a:r>
            <a:r>
              <a:rPr lang="en-US" sz="1600" dirty="0"/>
              <a:t> </a:t>
            </a:r>
            <a:r>
              <a:rPr lang="ru-RU" sz="1600" dirty="0"/>
              <a:t>with tags</a:t>
            </a:r>
            <a:r>
              <a:rPr lang="en-US" sz="1600" dirty="0"/>
              <a:t>test / control</a:t>
            </a:r>
            <a:endParaRPr lang="ru-RU" sz="16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615E0A-73E3-44ED-9EF9-0427265D0949}"/>
              </a:ext>
            </a:extLst>
          </p:cNvPr>
          <p:cNvSpPr/>
          <p:nvPr/>
        </p:nvSpPr>
        <p:spPr>
          <a:xfrm>
            <a:off x="7130904" y="2008439"/>
            <a:ext cx="493704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Results: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Total clients in the database: 88,786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Uploaded ID:</a:t>
            </a:r>
          </a:p>
          <a:p>
            <a:pPr algn="l" rtl="0"/>
            <a:r>
              <a:rPr lang="ru-RU" sz="1600" dirty="0"/>
              <a:t>test: 5,023</a:t>
            </a:r>
          </a:p>
          <a:p>
            <a:pPr algn="l" rtl="0"/>
            <a:r>
              <a:rPr lang="ru-RU" sz="1600" dirty="0"/>
              <a:t>control: 5,021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After comparison:</a:t>
            </a:r>
          </a:p>
          <a:p>
            <a:pPr algn="l" rtl="0"/>
            <a:r>
              <a:rPr lang="ru-RU" sz="1600" dirty="0"/>
              <a:t>test group: 4,239 clients</a:t>
            </a:r>
          </a:p>
          <a:p>
            <a:pPr algn="l" rtl="0"/>
            <a:r>
              <a:rPr lang="ru-RU" sz="1600" dirty="0"/>
              <a:t>control group: 4,203 clients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 err="1"/>
              <a:t>Dataset</a:t>
            </a:r>
            <a:r>
              <a:rPr lang="ru-RU" sz="1600" dirty="0"/>
              <a:t> </a:t>
            </a:r>
            <a:r>
              <a:rPr lang="ru-RU" sz="1600" dirty="0" err="1"/>
              <a:t>ready</a:t>
            </a:r>
            <a:r>
              <a:rPr lang="ru-RU" sz="1600" dirty="0"/>
              <a:t> for calculation:</a:t>
            </a:r>
          </a:p>
          <a:p>
            <a:pPr algn="l" rtl="0"/>
            <a:r>
              <a:rPr lang="ru-RU" sz="1600" dirty="0"/>
              <a:t>Conversions</a:t>
            </a:r>
          </a:p>
          <a:p>
            <a:pPr algn="l" rtl="0"/>
            <a:r>
              <a:rPr lang="ru-RU" sz="1600" dirty="0"/>
              <a:t>average check</a:t>
            </a:r>
          </a:p>
          <a:p>
            <a:pPr algn="l" rtl="0"/>
            <a:r>
              <a:rPr lang="ru-RU" sz="1600" dirty="0" err="1"/>
              <a:t>uplift</a:t>
            </a:r>
            <a:r>
              <a:rPr lang="ru-RU" sz="1600" dirty="0"/>
              <a:t>metrics</a:t>
            </a:r>
            <a:endParaRPr lang="ru-RU" sz="2400" dirty="0"/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F4ED5807-3A4C-4036-BA66-FAA9B57D145B}"/>
              </a:ext>
            </a:extLst>
          </p:cNvPr>
          <p:cNvSpPr/>
          <p:nvPr/>
        </p:nvSpPr>
        <p:spPr>
          <a:xfrm>
            <a:off x="6337006" y="3689498"/>
            <a:ext cx="552892" cy="4146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524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2190309" y="196718"/>
            <a:ext cx="82933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3200" dirty="0"/>
              <a:t>Clustering</a:t>
            </a:r>
            <a:r>
              <a:rPr lang="ru-RU" sz="3200" dirty="0">
                <a:effectLst/>
              </a:rPr>
              <a:t>customer base</a:t>
            </a:r>
            <a:endParaRPr lang="ru-RU" sz="32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CF9B16-6B38-4BF7-918C-98319749E295}"/>
              </a:ext>
            </a:extLst>
          </p:cNvPr>
          <p:cNvSpPr/>
          <p:nvPr/>
        </p:nvSpPr>
        <p:spPr>
          <a:xfrm>
            <a:off x="95693" y="856357"/>
            <a:ext cx="119722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2400" dirty="0"/>
              <a:t>Goal of the stage:</a:t>
            </a:r>
          </a:p>
          <a:p>
            <a:pPr algn="ctr" rtl="0"/>
            <a:r>
              <a:rPr lang="ru-RU" sz="2000" dirty="0"/>
              <a:t>Divide customers into stable segments based on behavioral and demographic characteristics.</a:t>
            </a:r>
            <a:endParaRPr lang="ru-RU" sz="2000" dirty="0">
              <a:effectLst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24324F-9742-426A-8E0F-5D608A4078AD}"/>
              </a:ext>
            </a:extLst>
          </p:cNvPr>
          <p:cNvSpPr/>
          <p:nvPr/>
        </p:nvSpPr>
        <p:spPr>
          <a:xfrm>
            <a:off x="467833" y="1923127"/>
            <a:ext cx="5628167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Actions:</a:t>
            </a:r>
          </a:p>
          <a:p>
            <a:pPr algn="l" rtl="0"/>
            <a:endParaRPr lang="ru-RU" sz="1100" dirty="0"/>
          </a:p>
          <a:p>
            <a:pPr algn="l" rtl="0"/>
            <a:r>
              <a:rPr lang="ru-RU" sz="1200" dirty="0"/>
              <a:t>The following features have been selected: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age (</a:t>
            </a:r>
            <a:r>
              <a:rPr lang="en-US" sz="1200" dirty="0"/>
              <a:t>age)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city ​​(</a:t>
            </a:r>
            <a:r>
              <a:rPr lang="en-US" sz="1200" dirty="0"/>
              <a:t>city)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personal coefficient (</a:t>
            </a:r>
            <a:r>
              <a:rPr lang="en-US" sz="1200" dirty="0" err="1"/>
              <a:t>personal_coef</a:t>
            </a:r>
            <a:r>
              <a:rPr lang="en-US" sz="1200" dirty="0"/>
              <a:t>)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number of purchases (</a:t>
            </a:r>
            <a:r>
              <a:rPr lang="en-US" sz="1200" dirty="0" err="1"/>
              <a:t>total_purchases</a:t>
            </a:r>
            <a:r>
              <a:rPr lang="en-US" sz="1200" dirty="0"/>
              <a:t>)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total expenses (</a:t>
            </a:r>
            <a:r>
              <a:rPr lang="en-US" sz="1200" dirty="0" err="1"/>
              <a:t>total_spent</a:t>
            </a:r>
            <a:r>
              <a:rPr lang="en-US" sz="1200" dirty="0"/>
              <a:t>)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share of purchases with a discount (</a:t>
            </a:r>
            <a:r>
              <a:rPr lang="en-US" sz="1200" dirty="0" err="1"/>
              <a:t>discount_rate</a:t>
            </a:r>
            <a:r>
              <a:rPr lang="en-US" sz="1200" dirty="0"/>
              <a:t>)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average value</a:t>
            </a:r>
            <a:r>
              <a:rPr lang="en-US" sz="1200" dirty="0" err="1"/>
              <a:t>product_sex</a:t>
            </a:r>
            <a:endParaRPr lang="ru-RU" sz="1200" dirty="0"/>
          </a:p>
          <a:p>
            <a:pPr algn="l" rtl="0"/>
            <a:endParaRPr lang="ru-RU" sz="1200" dirty="0"/>
          </a:p>
          <a:p>
            <a:pPr algn="l" rtl="0"/>
            <a:r>
              <a:rPr lang="ru-RU" sz="1200" dirty="0"/>
              <a:t>The features are normalized through</a:t>
            </a:r>
            <a:r>
              <a:rPr lang="en-US" sz="1200" dirty="0" err="1"/>
              <a:t>StandardScaler</a:t>
            </a:r>
            <a:endParaRPr lang="ru-RU" sz="1200" dirty="0"/>
          </a:p>
          <a:p>
            <a:pPr algn="l" rtl="0"/>
            <a:endParaRPr lang="ru-RU" sz="1200" dirty="0"/>
          </a:p>
          <a:p>
            <a:pPr algn="l" rtl="0"/>
            <a:r>
              <a:rPr lang="ru-RU" sz="1200" dirty="0"/>
              <a:t>The number of clusters was checked from 2 to 7</a:t>
            </a:r>
          </a:p>
          <a:p>
            <a:pPr algn="l" rtl="0"/>
            <a:endParaRPr lang="ru-RU" sz="1200" dirty="0"/>
          </a:p>
          <a:p>
            <a:pPr algn="l" rtl="0"/>
            <a:r>
              <a:rPr lang="ru-RU" sz="1200" dirty="0"/>
              <a:t>Rating by</a:t>
            </a:r>
            <a:r>
              <a:rPr lang="en-US" sz="1200" dirty="0"/>
              <a:t>silhouette score: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dirty="0"/>
              <a:t>k=2 → 0.221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dirty="0"/>
              <a:t>k=3 → 0.254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dirty="0"/>
              <a:t>k=4 → 0.219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dirty="0"/>
              <a:t>k=5 → 0.243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dirty="0"/>
              <a:t>k=6 → 0.263</a:t>
            </a:r>
            <a:endParaRPr lang="ru-RU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en-US" sz="1200" dirty="0"/>
              <a:t>k=7 → 0.237</a:t>
            </a:r>
            <a:endParaRPr lang="ru-RU" sz="1200" dirty="0"/>
          </a:p>
          <a:p>
            <a:pPr algn="l" rtl="0"/>
            <a:endParaRPr lang="ru-RU" sz="1200" dirty="0"/>
          </a:p>
          <a:p>
            <a:pPr algn="l" rtl="0"/>
            <a:r>
              <a:rPr lang="ru-RU" sz="1200" dirty="0"/>
              <a:t>Optimal number of clusters: 6Algorithm </a:t>
            </a:r>
            <a:r>
              <a:rPr lang="ru-RU" sz="1200" dirty="0" err="1"/>
              <a:t>trained</a:t>
            </a:r>
            <a:r>
              <a:rPr lang="ru-RU" sz="1200" dirty="0"/>
              <a:t> </a:t>
            </a:r>
            <a:r>
              <a:rPr lang="en-US" sz="1200" dirty="0" err="1"/>
              <a:t>KMeans</a:t>
            </a:r>
            <a:endParaRPr lang="ru-RU" sz="12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615E0A-73E3-44ED-9EF9-0427265D0949}"/>
              </a:ext>
            </a:extLst>
          </p:cNvPr>
          <p:cNvSpPr/>
          <p:nvPr/>
        </p:nvSpPr>
        <p:spPr>
          <a:xfrm>
            <a:off x="7130904" y="2008439"/>
            <a:ext cx="493704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Results: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Total clients in the database: 88,786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Distribution by clusters: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600" dirty="0"/>
              <a:t>Cluster 0: 22,896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600" dirty="0"/>
              <a:t>Cluster 1: 1,898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600" dirty="0"/>
              <a:t>Cluster 2: 5,286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600" dirty="0"/>
              <a:t>Cluster 3: 19,497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600" dirty="0"/>
              <a:t>Cluster 4: 2,353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600" dirty="0"/>
              <a:t>Cluster 5: 36,856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The data is saved in customers_clustered.csv</a:t>
            </a:r>
            <a:endParaRPr lang="ru-RU" sz="2400" dirty="0"/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F4ED5807-3A4C-4036-BA66-FAA9B57D145B}"/>
              </a:ext>
            </a:extLst>
          </p:cNvPr>
          <p:cNvSpPr/>
          <p:nvPr/>
        </p:nvSpPr>
        <p:spPr>
          <a:xfrm>
            <a:off x="6337006" y="3689498"/>
            <a:ext cx="552892" cy="4146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2870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2190309" y="196718"/>
            <a:ext cx="82933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3200" dirty="0">
                <a:effectLst/>
              </a:rPr>
              <a:t>Client cluster profiles</a:t>
            </a:r>
            <a:r>
              <a:rPr lang="ru-RU" sz="3200" dirty="0"/>
              <a:t>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CF9B16-6B38-4BF7-918C-98319749E295}"/>
              </a:ext>
            </a:extLst>
          </p:cNvPr>
          <p:cNvSpPr/>
          <p:nvPr/>
        </p:nvSpPr>
        <p:spPr>
          <a:xfrm>
            <a:off x="95693" y="746876"/>
            <a:ext cx="119722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2400" dirty="0"/>
              <a:t>Goal of the stage:</a:t>
            </a:r>
          </a:p>
          <a:p>
            <a:pPr algn="ctr" rtl="0"/>
            <a:r>
              <a:rPr lang="ru-RU" sz="2000" dirty="0"/>
              <a:t>Understand the characteristics of each customer segment and identify groups with different behaviors and values.</a:t>
            </a:r>
            <a:endParaRPr lang="ru-RU" sz="2000" dirty="0">
              <a:effectLst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558EBF-4525-4EA5-9FA2-098F80ED7258}"/>
              </a:ext>
            </a:extLst>
          </p:cNvPr>
          <p:cNvSpPr/>
          <p:nvPr/>
        </p:nvSpPr>
        <p:spPr>
          <a:xfrm>
            <a:off x="95693" y="2178826"/>
            <a:ext cx="38241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400" dirty="0"/>
              <a:t>Cluster 0 - Medium active clients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22,896 people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Average age: 40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Men: 33.9%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Purchases: 5.6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Expenses: 30,170 ₽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Discounts: 14.2%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Feature: Low use of discounts, average spending</a:t>
            </a:r>
          </a:p>
          <a:p>
            <a:pPr algn="l" rtl="0"/>
            <a:endParaRPr lang="ru-RU" sz="14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FE8FE7-07D8-4836-86AF-03A726228BBF}"/>
              </a:ext>
            </a:extLst>
          </p:cNvPr>
          <p:cNvSpPr/>
          <p:nvPr/>
        </p:nvSpPr>
        <p:spPr>
          <a:xfrm>
            <a:off x="4290231" y="1662905"/>
            <a:ext cx="3824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ru-RU" dirty="0"/>
              <a:t>Main characteristics of clusters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BB61453-128E-441C-AE58-9F582985C92C}"/>
              </a:ext>
            </a:extLst>
          </p:cNvPr>
          <p:cNvSpPr/>
          <p:nvPr/>
        </p:nvSpPr>
        <p:spPr>
          <a:xfrm>
            <a:off x="4049233" y="2178826"/>
            <a:ext cx="38241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400" dirty="0"/>
              <a:t>Cluster 1 - Premium</a:t>
            </a:r>
            <a:r>
              <a:rPr lang="en-US" sz="1400" dirty="0"/>
              <a:t>heavy buyers</a:t>
            </a:r>
            <a:endParaRPr lang="ru-RU" sz="14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1,898 people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Average age: 47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Men: 67.9%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Purchases: 47.6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Expenses: 331,788 ₽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Discounts:</a:t>
            </a:r>
            <a:r>
              <a:rPr lang="ru-RU" sz="1400" b="1" dirty="0">
                <a:effectLst/>
              </a:rPr>
              <a:t>34.7%</a:t>
            </a:r>
            <a:endParaRPr lang="ru-RU" sz="14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Feature: Most valuable customers, highest spenders</a:t>
            </a:r>
          </a:p>
          <a:p>
            <a:pPr algn="l" rtl="0"/>
            <a:endParaRPr lang="ru-RU" sz="140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047A6C6-1154-43FB-A783-C59DB792F321}"/>
              </a:ext>
            </a:extLst>
          </p:cNvPr>
          <p:cNvSpPr/>
          <p:nvPr/>
        </p:nvSpPr>
        <p:spPr>
          <a:xfrm>
            <a:off x="8114419" y="2178826"/>
            <a:ext cx="38241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400" dirty="0"/>
              <a:t>Cluster 2 - Young Clients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5,286 people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Average age: 15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Men: 67.9%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Purchases: 47.6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Expenses: 33,355 ₽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Discounts:</a:t>
            </a:r>
            <a:r>
              <a:rPr lang="ru-RU" sz="1400" b="1" dirty="0">
                <a:effectLst/>
              </a:rPr>
              <a:t>0%</a:t>
            </a:r>
            <a:endParaRPr lang="ru-RU" sz="14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Feature: low (0.272), many young buyers</a:t>
            </a:r>
          </a:p>
          <a:p>
            <a:pPr algn="l" rtl="0"/>
            <a:endParaRPr lang="ru-RU" sz="14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50C0057-53B4-457D-BD71-F061AB1EBDA9}"/>
              </a:ext>
            </a:extLst>
          </p:cNvPr>
          <p:cNvSpPr/>
          <p:nvPr/>
        </p:nvSpPr>
        <p:spPr>
          <a:xfrm>
            <a:off x="95694" y="4447044"/>
            <a:ext cx="3824187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400" dirty="0"/>
              <a:t>Cluster 3 - Discount Clients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19,497 people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Purchases: 7.4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Expenses: 26,474 ₽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Discounts: 66.7%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Peculiarity</a:t>
            </a:r>
            <a:r>
              <a:rPr lang="en-US" sz="1400" dirty="0"/>
              <a:t>:</a:t>
            </a:r>
            <a:r>
              <a:rPr lang="ru-RU" sz="1400" dirty="0"/>
              <a:t>actively respond to promotions and campaigns</a:t>
            </a:r>
          </a:p>
          <a:p>
            <a:pPr algn="l" rtl="0"/>
            <a:endParaRPr lang="ru-RU" sz="14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612568D-877C-4DC1-B624-8FA05076DF52}"/>
              </a:ext>
            </a:extLst>
          </p:cNvPr>
          <p:cNvSpPr/>
          <p:nvPr/>
        </p:nvSpPr>
        <p:spPr>
          <a:xfrm>
            <a:off x="4049234" y="4447043"/>
            <a:ext cx="3824187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400" dirty="0"/>
              <a:t>Cluster</a:t>
            </a:r>
            <a:r>
              <a:rPr lang="en-US" sz="1400" dirty="0"/>
              <a:t>4</a:t>
            </a:r>
            <a:r>
              <a:rPr lang="ru-RU" sz="1400" dirty="0"/>
              <a:t>- Moderately active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sz="1400" dirty="0"/>
              <a:t>2,353</a:t>
            </a:r>
            <a:r>
              <a:rPr lang="ru-RU" sz="1400" dirty="0"/>
              <a:t>Human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Purchases: 7.</a:t>
            </a:r>
            <a:r>
              <a:rPr lang="en-US" sz="1400" dirty="0"/>
              <a:t>8</a:t>
            </a:r>
            <a:endParaRPr lang="ru-RU" sz="14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Expenses: 40,635 ₽</a:t>
            </a:r>
            <a:endParaRPr lang="en-US" sz="14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Men:</a:t>
            </a:r>
            <a:r>
              <a:rPr lang="en-US" sz="1400" dirty="0"/>
              <a:t> </a:t>
            </a:r>
            <a:r>
              <a:rPr lang="ru-RU" sz="1400" dirty="0"/>
              <a:t>56.3%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Peculiarity</a:t>
            </a:r>
            <a:r>
              <a:rPr lang="en-US" sz="1400" dirty="0"/>
              <a:t>:</a:t>
            </a:r>
            <a:r>
              <a:rPr lang="ru-RU" sz="1400" dirty="0"/>
              <a:t>stable, good customers</a:t>
            </a:r>
          </a:p>
          <a:p>
            <a:pPr algn="l" rtl="0"/>
            <a:endParaRPr lang="ru-RU" sz="14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09129CF-8049-466E-8F2A-2EAD56A307F5}"/>
              </a:ext>
            </a:extLst>
          </p:cNvPr>
          <p:cNvSpPr/>
          <p:nvPr/>
        </p:nvSpPr>
        <p:spPr>
          <a:xfrm>
            <a:off x="8064800" y="4447043"/>
            <a:ext cx="3824187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400" dirty="0"/>
              <a:t>Cluster</a:t>
            </a:r>
            <a:r>
              <a:rPr lang="en-US" sz="1400" dirty="0"/>
              <a:t>4</a:t>
            </a:r>
            <a:r>
              <a:rPr lang="ru-RU" sz="1400" dirty="0"/>
              <a:t>— Male audience</a:t>
            </a:r>
            <a:endParaRPr lang="en-US" sz="14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36,856</a:t>
            </a:r>
            <a:r>
              <a:rPr lang="en-US" sz="1400" dirty="0"/>
              <a:t> </a:t>
            </a:r>
            <a:r>
              <a:rPr lang="ru-RU" sz="1400" dirty="0"/>
              <a:t>Human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Purchases:</a:t>
            </a:r>
            <a:r>
              <a:rPr lang="en-US" sz="1400" dirty="0"/>
              <a:t>6</a:t>
            </a:r>
            <a:r>
              <a:rPr lang="ru-RU" sz="1400" dirty="0"/>
              <a:t>.</a:t>
            </a:r>
            <a:r>
              <a:rPr lang="en-US" sz="1400" dirty="0"/>
              <a:t>8</a:t>
            </a:r>
            <a:endParaRPr lang="ru-RU" sz="14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Expenses: 40</a:t>
            </a:r>
            <a:r>
              <a:rPr lang="en-US" sz="1400" dirty="0"/>
              <a:t>456</a:t>
            </a:r>
            <a:r>
              <a:rPr lang="ru-RU" sz="1400" dirty="0"/>
              <a:t>₽</a:t>
            </a:r>
            <a:endParaRPr lang="en-US" sz="1400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Men:</a:t>
            </a:r>
            <a:r>
              <a:rPr lang="en-US" sz="1400" dirty="0"/>
              <a:t> </a:t>
            </a:r>
            <a:r>
              <a:rPr lang="ru-RU" sz="1400" dirty="0"/>
              <a:t>86.4</a:t>
            </a:r>
            <a:r>
              <a:rPr lang="en-US" sz="1400" dirty="0"/>
              <a:t> </a:t>
            </a:r>
            <a:r>
              <a:rPr lang="ru-RU" sz="1400" dirty="0"/>
              <a:t>%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sz="1400" dirty="0"/>
              <a:t>Peculiarity</a:t>
            </a:r>
            <a:r>
              <a:rPr lang="en-US" sz="1400" dirty="0"/>
              <a:t>:</a:t>
            </a:r>
            <a:r>
              <a:rPr lang="ru-RU" sz="1400" dirty="0"/>
              <a:t>largest cluster, high proportion of men</a:t>
            </a:r>
          </a:p>
          <a:p>
            <a:pPr algn="l" rtl="0"/>
            <a:endParaRPr lang="ru-RU" sz="14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A4D74CD-DB93-4682-AAE8-5E82F6258305}"/>
              </a:ext>
            </a:extLst>
          </p:cNvPr>
          <p:cNvSpPr/>
          <p:nvPr/>
        </p:nvSpPr>
        <p:spPr>
          <a:xfrm>
            <a:off x="0" y="6111124"/>
            <a:ext cx="1209630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200" b="1" dirty="0">
                <a:effectLst/>
              </a:rPr>
              <a:t>Conclusion:</a:t>
            </a:r>
          </a:p>
          <a:p>
            <a:pPr algn="l" rtl="0"/>
            <a:r>
              <a:rPr lang="ru-RU" sz="1200" b="1" dirty="0">
                <a:effectLst/>
              </a:rPr>
              <a:t>The client base is divided into 6 distinct segments: </a:t>
            </a:r>
            <a:r>
              <a:rPr lang="ru-RU" sz="1200" b="1" dirty="0" err="1">
                <a:effectLst/>
              </a:rPr>
              <a:t>from</a:t>
            </a:r>
            <a:r>
              <a:rPr lang="ru-RU" sz="1200" b="1" dirty="0">
                <a:effectLst/>
              </a:rPr>
              <a:t> </a:t>
            </a:r>
            <a:r>
              <a:rPr lang="ru-RU" sz="1200" b="1" dirty="0" err="1">
                <a:effectLst/>
              </a:rPr>
              <a:t>premium</a:t>
            </a:r>
            <a:r>
              <a:rPr lang="ru-RU" sz="1200" b="1" dirty="0">
                <a:effectLst/>
              </a:rPr>
              <a:t> </a:t>
            </a:r>
            <a:r>
              <a:rPr lang="ru-RU" sz="1200" b="1" dirty="0" err="1">
                <a:effectLst/>
              </a:rPr>
              <a:t>heavy</a:t>
            </a:r>
            <a:r>
              <a:rPr lang="ru-RU" sz="1200" b="1" dirty="0">
                <a:effectLst/>
              </a:rPr>
              <a:t> </a:t>
            </a:r>
            <a:r>
              <a:rPr lang="ru-RU" sz="1200" b="1" dirty="0" err="1">
                <a:effectLst/>
              </a:rPr>
              <a:t>buyers</a:t>
            </a:r>
            <a:r>
              <a:rPr lang="ru-RU" sz="1200" b="1" dirty="0">
                <a:effectLst/>
              </a:rPr>
              <a:t> </a:t>
            </a:r>
            <a:r>
              <a:rPr lang="ru-RU" sz="1200" b="1" dirty="0" err="1">
                <a:effectLst/>
              </a:rPr>
              <a:t>to</a:t>
            </a:r>
            <a:r>
              <a:rPr lang="ru-RU" sz="1200" b="1" dirty="0">
                <a:effectLst/>
              </a:rPr>
              <a:t> discount and younger customers. These segments can be used for personalized marketing campaigns.</a:t>
            </a:r>
          </a:p>
        </p:txBody>
      </p:sp>
    </p:spTree>
    <p:extLst>
      <p:ext uri="{BB962C8B-B14F-4D97-AF65-F5344CB8AC3E}">
        <p14:creationId xmlns:p14="http://schemas.microsoft.com/office/powerpoint/2010/main" val="380647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1306033" y="166990"/>
            <a:ext cx="95799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3200" dirty="0"/>
              <a:t>Propensity to Purchase Model (</a:t>
            </a:r>
            <a:r>
              <a:rPr lang="ru-RU" sz="3200" dirty="0" err="1"/>
              <a:t>Propensity</a:t>
            </a:r>
            <a:r>
              <a:rPr lang="ru-RU" sz="3200" dirty="0"/>
              <a:t> </a:t>
            </a:r>
            <a:r>
              <a:rPr lang="ru-RU" sz="3200" dirty="0" err="1"/>
              <a:t>Model</a:t>
            </a:r>
            <a:r>
              <a:rPr lang="ru-RU" sz="3200" dirty="0"/>
              <a:t>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CF9B16-6B38-4BF7-918C-98319749E295}"/>
              </a:ext>
            </a:extLst>
          </p:cNvPr>
          <p:cNvSpPr/>
          <p:nvPr/>
        </p:nvSpPr>
        <p:spPr>
          <a:xfrm>
            <a:off x="95693" y="707129"/>
            <a:ext cx="119722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ru-RU" sz="2400" dirty="0"/>
              <a:t>Goal of the stage:</a:t>
            </a:r>
          </a:p>
          <a:p>
            <a:pPr algn="ctr" rtl="0"/>
            <a:r>
              <a:rPr lang="ru-RU" sz="2000" dirty="0"/>
              <a:t>Determine the likelihood of customers purchasing the most popular product in city 1188 and identify the most promising segments for targeting.</a:t>
            </a:r>
            <a:endParaRPr lang="ru-RU" sz="2000" dirty="0">
              <a:effectLst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24324F-9742-426A-8E0F-5D608A4078AD}"/>
              </a:ext>
            </a:extLst>
          </p:cNvPr>
          <p:cNvSpPr/>
          <p:nvPr/>
        </p:nvSpPr>
        <p:spPr>
          <a:xfrm>
            <a:off x="223285" y="1784347"/>
            <a:ext cx="4423146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Actions:</a:t>
            </a:r>
          </a:p>
          <a:p>
            <a:pPr algn="l" rtl="0"/>
            <a:endParaRPr lang="ru-RU" sz="11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Clients from country 32 and city 1188 selected</a:t>
            </a: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The most popular item among their purchases has been identified</a:t>
            </a: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 err="1"/>
              <a:t>Formed</a:t>
            </a:r>
            <a:r>
              <a:rPr lang="ru-RU" sz="1200" dirty="0"/>
              <a:t> </a:t>
            </a:r>
            <a:r>
              <a:rPr lang="ru-RU" sz="1200" dirty="0" err="1"/>
              <a:t>target</a:t>
            </a:r>
            <a:r>
              <a:rPr lang="ru-RU" sz="1200" dirty="0"/>
              <a:t>:</a:t>
            </a:r>
            <a:endParaRPr lang="en-US" sz="1200" dirty="0"/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1 - the customer purchased this product</a:t>
            </a:r>
            <a:endParaRPr lang="en-US" sz="1200" dirty="0"/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0 — did not buy</a:t>
            </a: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The following features have been selected:</a:t>
            </a:r>
            <a:endParaRPr lang="en-US" sz="1200" dirty="0"/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age (</a:t>
            </a:r>
            <a:r>
              <a:rPr lang="en-US" sz="1200" dirty="0"/>
              <a:t>age)</a:t>
            </a:r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floor (</a:t>
            </a:r>
            <a:r>
              <a:rPr lang="en-US" sz="1200" dirty="0"/>
              <a:t>gender)</a:t>
            </a:r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personal coefficient (</a:t>
            </a:r>
            <a:r>
              <a:rPr lang="en-US" sz="1200" dirty="0" err="1"/>
              <a:t>personal_coef</a:t>
            </a:r>
            <a:r>
              <a:rPr lang="en-US" sz="1200" dirty="0"/>
              <a:t>)</a:t>
            </a:r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number of purchases (</a:t>
            </a:r>
            <a:r>
              <a:rPr lang="en-US" sz="1200" dirty="0" err="1"/>
              <a:t>total_purchases</a:t>
            </a:r>
            <a:r>
              <a:rPr lang="en-US" sz="1200" dirty="0"/>
              <a:t>)</a:t>
            </a:r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total expenses (</a:t>
            </a:r>
            <a:r>
              <a:rPr lang="en-US" sz="1200" dirty="0" err="1"/>
              <a:t>total_spent</a:t>
            </a:r>
            <a:r>
              <a:rPr lang="en-US" sz="1200" dirty="0"/>
              <a:t>)</a:t>
            </a:r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share of purchases with a discount (</a:t>
            </a:r>
            <a:r>
              <a:rPr lang="en-US" sz="1200" dirty="0" err="1"/>
              <a:t>discount_rate</a:t>
            </a:r>
            <a:r>
              <a:rPr lang="en-US" sz="1200" dirty="0"/>
              <a:t>)</a:t>
            </a:r>
          </a:p>
          <a:p>
            <a:pPr algn="l" rtl="0"/>
            <a:r>
              <a:rPr lang="en-US" sz="1200" dirty="0"/>
              <a:t>     </a:t>
            </a:r>
            <a:r>
              <a:rPr lang="ru-RU" sz="1200" dirty="0" err="1"/>
              <a:t>average</a:t>
            </a:r>
            <a:r>
              <a:rPr lang="ru-RU" sz="1200" dirty="0"/>
              <a:t> </a:t>
            </a:r>
            <a:r>
              <a:rPr lang="ru-RU" sz="1200" dirty="0" err="1"/>
              <a:t>value</a:t>
            </a:r>
            <a:r>
              <a:rPr lang="ru-RU" sz="1200" dirty="0"/>
              <a:t> </a:t>
            </a:r>
            <a:r>
              <a:rPr lang="en-US" sz="1200" dirty="0" err="1"/>
              <a:t>product_sex</a:t>
            </a:r>
            <a:endParaRPr lang="en-US" sz="1200" dirty="0"/>
          </a:p>
          <a:p>
            <a:pPr algn="l" rtl="0"/>
            <a:r>
              <a:rPr lang="en-US" sz="1200" dirty="0"/>
              <a:t>     </a:t>
            </a:r>
            <a:r>
              <a:rPr lang="ru-RU" sz="1200" dirty="0"/>
              <a:t>client cluster (</a:t>
            </a:r>
            <a:r>
              <a:rPr lang="en-US" sz="1200" dirty="0"/>
              <a:t>one-hot)</a:t>
            </a:r>
          </a:p>
          <a:p>
            <a:pPr marL="171450" indent="-171450" algn="l" rtl="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The data are </a:t>
            </a:r>
            <a:r>
              <a:rPr lang="ru-RU" sz="1200" dirty="0" err="1"/>
              <a:t>normalized</a:t>
            </a:r>
            <a:r>
              <a:rPr lang="ru-RU" sz="1200" dirty="0"/>
              <a:t> </a:t>
            </a:r>
            <a:r>
              <a:rPr lang="ru-RU" sz="1200" dirty="0" err="1"/>
              <a:t>through</a:t>
            </a:r>
            <a:r>
              <a:rPr lang="ru-RU" sz="1200" dirty="0"/>
              <a:t> </a:t>
            </a:r>
            <a:r>
              <a:rPr lang="en-US" sz="1200" dirty="0" err="1"/>
              <a:t>StandardScaler</a:t>
            </a: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 rtl="0">
              <a:buFont typeface="Arial" panose="020B0604020202020204" pitchFamily="34" charset="0"/>
              <a:buChar char="•"/>
            </a:pPr>
            <a:r>
              <a:rPr lang="ru-RU" sz="1200" dirty="0"/>
              <a:t>Two models were trained:</a:t>
            </a:r>
            <a:endParaRPr lang="en-US" sz="1200" dirty="0"/>
          </a:p>
          <a:p>
            <a:pPr algn="l" rtl="0"/>
            <a:r>
              <a:rPr lang="en-US" sz="1200" dirty="0"/>
              <a:t>     Logistic Regression</a:t>
            </a:r>
          </a:p>
          <a:p>
            <a:pPr algn="l" rtl="0"/>
            <a:r>
              <a:rPr lang="en-US" sz="1200" dirty="0"/>
              <a:t>     Random Forest</a:t>
            </a:r>
            <a:endParaRPr lang="ru-RU" sz="12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615E0A-73E3-44ED-9EF9-0427265D0949}"/>
              </a:ext>
            </a:extLst>
          </p:cNvPr>
          <p:cNvSpPr/>
          <p:nvPr/>
        </p:nvSpPr>
        <p:spPr>
          <a:xfrm>
            <a:off x="5199323" y="1798556"/>
            <a:ext cx="407226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Results:</a:t>
            </a:r>
          </a:p>
          <a:p>
            <a:pPr algn="l" rtl="0"/>
            <a:endParaRPr lang="ru-RU" sz="2400" dirty="0"/>
          </a:p>
          <a:p>
            <a:pPr algn="l" rtl="0"/>
            <a:r>
              <a:rPr lang="en-US" sz="1400" dirty="0"/>
              <a:t>ROC‑AUC Logistic Regression: 0.776</a:t>
            </a:r>
          </a:p>
          <a:p>
            <a:pPr algn="l" rtl="0"/>
            <a:r>
              <a:rPr lang="en-US" sz="1400" dirty="0"/>
              <a:t>Random Forest ROC‑AUC: 0.776</a:t>
            </a:r>
          </a:p>
          <a:p>
            <a:pPr algn="l" rtl="0"/>
            <a:endParaRPr lang="en-US" sz="1400" dirty="0"/>
          </a:p>
          <a:p>
            <a:pPr algn="l" rtl="0"/>
            <a:r>
              <a:rPr lang="ru-RU" sz="1400" dirty="0"/>
              <a:t>The best model has been chosen:</a:t>
            </a:r>
            <a:r>
              <a:rPr lang="en-US" sz="1400" dirty="0"/>
              <a:t>Random Forest</a:t>
            </a:r>
          </a:p>
          <a:p>
            <a:pPr algn="l" rtl="0"/>
            <a:endParaRPr lang="en-US" sz="1400" dirty="0"/>
          </a:p>
          <a:p>
            <a:pPr algn="l" rtl="0"/>
            <a:r>
              <a:rPr lang="ru-RU" sz="1400" dirty="0"/>
              <a:t>Calculated for </a:t>
            </a:r>
            <a:r>
              <a:rPr lang="ru-RU" sz="1400" dirty="0" err="1"/>
              <a:t>each</a:t>
            </a:r>
            <a:r>
              <a:rPr lang="ru-RU" sz="1400" dirty="0"/>
              <a:t> </a:t>
            </a:r>
            <a:r>
              <a:rPr lang="ru-RU" sz="1400" dirty="0" err="1"/>
              <a:t>client</a:t>
            </a:r>
            <a:r>
              <a:rPr lang="ru-RU" sz="1400" dirty="0"/>
              <a:t> </a:t>
            </a:r>
            <a:r>
              <a:rPr lang="en-US" sz="1400" dirty="0" err="1"/>
              <a:t>propensity_score</a:t>
            </a:r>
            <a:endParaRPr lang="en-US" sz="1400" dirty="0"/>
          </a:p>
          <a:p>
            <a:pPr algn="l" rtl="0"/>
            <a:endParaRPr lang="en-US" sz="1400" dirty="0"/>
          </a:p>
          <a:p>
            <a:pPr algn="l" rtl="0"/>
            <a:r>
              <a:rPr lang="ru-RU" sz="1400" dirty="0"/>
              <a:t>Clients are </a:t>
            </a:r>
            <a:r>
              <a:rPr lang="ru-RU" sz="1400" dirty="0" err="1"/>
              <a:t>divided</a:t>
            </a:r>
            <a:r>
              <a:rPr lang="ru-RU" sz="1400" dirty="0"/>
              <a:t> </a:t>
            </a:r>
            <a:r>
              <a:rPr lang="ru-RU" sz="1400" dirty="0" err="1"/>
              <a:t>into</a:t>
            </a:r>
            <a:r>
              <a:rPr lang="ru-RU" sz="1400" dirty="0"/>
              <a:t> </a:t>
            </a:r>
            <a:r>
              <a:rPr lang="ru-RU" sz="1400" dirty="0" err="1"/>
              <a:t>decile</a:t>
            </a:r>
            <a:r>
              <a:rPr lang="ru-RU" sz="1400" dirty="0"/>
              <a:t> </a:t>
            </a:r>
            <a:r>
              <a:rPr lang="ru-RU" sz="1400" dirty="0" err="1"/>
              <a:t>groups</a:t>
            </a:r>
            <a:endParaRPr lang="en-US" sz="1400" dirty="0"/>
          </a:p>
          <a:p>
            <a:pPr algn="l" rtl="0"/>
            <a:endParaRPr lang="en-US" sz="1400" dirty="0"/>
          </a:p>
          <a:p>
            <a:pPr algn="l" rtl="0"/>
            <a:r>
              <a:rPr lang="ru-RU" sz="1400" dirty="0"/>
              <a:t>Actual response by deciles:</a:t>
            </a:r>
            <a:endParaRPr lang="en-US" sz="1400" dirty="0"/>
          </a:p>
          <a:p>
            <a:pPr algn="l" rtl="0"/>
            <a:r>
              <a:rPr lang="ru-RU" sz="1400" dirty="0"/>
              <a:t>1 decile: 0.14%</a:t>
            </a:r>
            <a:endParaRPr lang="en-US" sz="1400" dirty="0"/>
          </a:p>
          <a:p>
            <a:pPr algn="l" rtl="0"/>
            <a:r>
              <a:rPr lang="ru-RU" sz="1400" dirty="0"/>
              <a:t>2nd decile: 0.16%</a:t>
            </a:r>
            <a:endParaRPr lang="en-US" sz="1400" dirty="0"/>
          </a:p>
          <a:p>
            <a:pPr algn="l" rtl="0"/>
            <a:r>
              <a:rPr lang="ru-RU" sz="1400" dirty="0"/>
              <a:t>3rd decile: 0.49%</a:t>
            </a:r>
            <a:endParaRPr lang="en-US" sz="1400" dirty="0"/>
          </a:p>
          <a:p>
            <a:pPr algn="l" rtl="0"/>
            <a:r>
              <a:rPr lang="ru-RU" sz="1400" dirty="0"/>
              <a:t>4th decile: 1.36%</a:t>
            </a:r>
            <a:endParaRPr lang="en-US" sz="1400" dirty="0"/>
          </a:p>
          <a:p>
            <a:pPr algn="l" rtl="0"/>
            <a:r>
              <a:rPr lang="ru-RU" sz="1400" dirty="0"/>
              <a:t>5th decile: 25.57%</a:t>
            </a:r>
            <a:endParaRPr lang="en-US" sz="1400" dirty="0"/>
          </a:p>
          <a:p>
            <a:pPr algn="l" rtl="0"/>
            <a:endParaRPr lang="en-US" sz="1400" dirty="0"/>
          </a:p>
          <a:p>
            <a:pPr algn="l" rtl="0"/>
            <a:r>
              <a:rPr lang="ru-RU" sz="1400" dirty="0"/>
              <a:t>The data is saved in customers_clustered.csv</a:t>
            </a:r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F4ED5807-3A4C-4036-BA66-FAA9B57D145B}"/>
              </a:ext>
            </a:extLst>
          </p:cNvPr>
          <p:cNvSpPr/>
          <p:nvPr/>
        </p:nvSpPr>
        <p:spPr>
          <a:xfrm>
            <a:off x="4646431" y="3429000"/>
            <a:ext cx="552892" cy="4146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52297E4-BE0B-424C-A80E-A4E5363E6261}"/>
              </a:ext>
            </a:extLst>
          </p:cNvPr>
          <p:cNvSpPr/>
          <p:nvPr/>
        </p:nvSpPr>
        <p:spPr>
          <a:xfrm>
            <a:off x="9462980" y="2038167"/>
            <a:ext cx="26049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200" b="1" dirty="0">
                <a:effectLst/>
              </a:rPr>
              <a:t>Conclusion:</a:t>
            </a:r>
          </a:p>
          <a:p>
            <a:pPr algn="l" rtl="0"/>
            <a:r>
              <a:rPr lang="ru-RU" sz="1200" dirty="0">
                <a:effectLst/>
              </a:rPr>
              <a:t>The model successfully identified a high-value segment: customers in the top decile have a purchase probability of more than</a:t>
            </a:r>
            <a:r>
              <a:rPr lang="ru-RU" sz="1200" b="1" dirty="0">
                <a:effectLst/>
              </a:rPr>
              <a:t>180 </a:t>
            </a:r>
            <a:r>
              <a:rPr lang="ru-RU" sz="1200" b="1" dirty="0" err="1">
                <a:effectLst/>
              </a:rPr>
              <a:t>times</a:t>
            </a:r>
            <a:r>
              <a:rPr lang="ru-RU" sz="1200" b="1" dirty="0">
                <a:effectLst/>
              </a:rPr>
              <a:t> </a:t>
            </a:r>
            <a:r>
              <a:rPr lang="ru-RU" sz="1200" b="1" dirty="0" err="1">
                <a:effectLst/>
              </a:rPr>
              <a:t>higher</a:t>
            </a:r>
            <a:r>
              <a:rPr lang="ru-RU" sz="1200" b="1" dirty="0">
                <a:effectLst/>
              </a:rPr>
              <a:t> </a:t>
            </a:r>
            <a:r>
              <a:rPr lang="ru-RU" sz="1200" dirty="0" err="1">
                <a:effectLst/>
              </a:rPr>
              <a:t>than</a:t>
            </a:r>
            <a:r>
              <a:rPr lang="ru-RU" sz="1200" dirty="0">
                <a:effectLst/>
              </a:rPr>
              <a:t> customers in the bottom decile. This allows for effective targeting of marketing campaigns.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0F72DCE-2AA5-4E00-9BA6-F0E7EF235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056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1477927" y="72877"/>
            <a:ext cx="957993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3200" dirty="0"/>
              <a:t>Visualization and conclusions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275776E-7A0D-4789-BCED-5F5BC5B87A1C}"/>
              </a:ext>
            </a:extLst>
          </p:cNvPr>
          <p:cNvSpPr/>
          <p:nvPr/>
        </p:nvSpPr>
        <p:spPr>
          <a:xfrm>
            <a:off x="138233" y="3263113"/>
            <a:ext cx="57096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000" b="1" dirty="0" err="1"/>
              <a:t>Show</a:t>
            </a:r>
            <a:r>
              <a:rPr lang="ru-RU" sz="1000" b="1" dirty="0"/>
              <a:t> that cluster 5 is the largest (36,856 clients), and clusters 1 and 4 are the smallest.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D3EA16C-460D-4B57-9BF4-713991B51440}"/>
              </a:ext>
            </a:extLst>
          </p:cNvPr>
          <p:cNvSpPr/>
          <p:nvPr/>
        </p:nvSpPr>
        <p:spPr>
          <a:xfrm>
            <a:off x="6271443" y="3289694"/>
            <a:ext cx="57096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000" b="1" dirty="0" err="1"/>
              <a:t>Show</a:t>
            </a:r>
            <a:r>
              <a:rPr lang="ru-RU" sz="1000" b="1" dirty="0"/>
              <a:t>,</a:t>
            </a:r>
            <a:r>
              <a:rPr lang="en-US" sz="1000" b="1" dirty="0"/>
              <a:t> </a:t>
            </a:r>
            <a:r>
              <a:rPr lang="ru-RU" sz="1000" dirty="0" err="1"/>
              <a:t>What</a:t>
            </a:r>
            <a:r>
              <a:rPr lang="ru-RU" sz="1000" b="1" dirty="0" err="1">
                <a:effectLst/>
              </a:rPr>
              <a:t>cluster</a:t>
            </a:r>
            <a:r>
              <a:rPr lang="ru-RU" sz="1000" b="1" dirty="0">
                <a:effectLst/>
              </a:rPr>
              <a:t> 1</a:t>
            </a:r>
            <a:r>
              <a:rPr lang="ru-RU" sz="1000" dirty="0"/>
              <a:t>- this </a:t>
            </a:r>
            <a:r>
              <a:rPr lang="ru-RU" sz="1000" dirty="0" err="1"/>
              <a:t>is</a:t>
            </a:r>
            <a:r>
              <a:rPr lang="ru-RU" sz="1000" dirty="0"/>
              <a:t> </a:t>
            </a:r>
            <a:r>
              <a:rPr lang="ru-RU" sz="1000" dirty="0" err="1"/>
              <a:t>obvious</a:t>
            </a:r>
            <a:r>
              <a:rPr lang="ru-RU" sz="1000" dirty="0"/>
              <a:t> </a:t>
            </a:r>
            <a:r>
              <a:rPr lang="ru-RU" sz="1000" dirty="0" err="1"/>
              <a:t>outlier</a:t>
            </a:r>
            <a:r>
              <a:rPr lang="ru-RU" sz="1000" dirty="0"/>
              <a:t>: customers spend on average</a:t>
            </a:r>
            <a:r>
              <a:rPr lang="ru-RU" sz="1000" b="1" dirty="0">
                <a:effectLst/>
              </a:rPr>
              <a:t>330,000 ₽</a:t>
            </a:r>
            <a:r>
              <a:rPr lang="ru-RU" sz="1000" dirty="0"/>
              <a:t>, while the rest are less</a:t>
            </a:r>
            <a:r>
              <a:rPr lang="ru-RU" sz="1000" b="1" dirty="0">
                <a:effectLst/>
              </a:rPr>
              <a:t>50,000 ₽</a:t>
            </a:r>
            <a:r>
              <a:rPr lang="ru-RU" sz="1000" dirty="0"/>
              <a:t>.</a:t>
            </a:r>
            <a:endParaRPr lang="ru-RU" sz="1000" b="1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70845B-572D-49B0-825C-869BA5C06608}"/>
              </a:ext>
            </a:extLst>
          </p:cNvPr>
          <p:cNvSpPr/>
          <p:nvPr/>
        </p:nvSpPr>
        <p:spPr>
          <a:xfrm>
            <a:off x="138232" y="6331154"/>
            <a:ext cx="570967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000" b="1" dirty="0" err="1"/>
              <a:t>Show</a:t>
            </a:r>
            <a:r>
              <a:rPr lang="ru-RU" sz="1000" b="1" dirty="0"/>
              <a:t> </a:t>
            </a:r>
            <a:r>
              <a:rPr lang="ru-RU" sz="1000" b="1" dirty="0" err="1"/>
              <a:t>that</a:t>
            </a:r>
            <a:r>
              <a:rPr lang="en-US" sz="1000" b="1" dirty="0"/>
              <a:t> </a:t>
            </a:r>
            <a:r>
              <a:rPr lang="ru-RU" sz="1000" dirty="0" err="1"/>
              <a:t>Cluster</a:t>
            </a:r>
            <a:r>
              <a:rPr lang="ru-RU" sz="1000" dirty="0"/>
              <a:t> 1 is a priority for</a:t>
            </a:r>
            <a:r>
              <a:rPr lang="ru-RU" sz="1000" b="1" dirty="0">
                <a:effectLst/>
              </a:rPr>
              <a:t>personalized offers, loyalty and retention</a:t>
            </a:r>
            <a:r>
              <a:rPr lang="ru-RU" sz="1000" dirty="0"/>
              <a:t>.</a:t>
            </a:r>
            <a:endParaRPr lang="ru-RU" sz="1000" b="1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08B4F11-620E-4A86-B8B9-E92CD218E5A0}"/>
              </a:ext>
            </a:extLst>
          </p:cNvPr>
          <p:cNvSpPr/>
          <p:nvPr/>
        </p:nvSpPr>
        <p:spPr>
          <a:xfrm>
            <a:off x="6267893" y="6331154"/>
            <a:ext cx="57096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000" b="1" dirty="0" err="1"/>
              <a:t>Show</a:t>
            </a:r>
            <a:r>
              <a:rPr lang="en-US" sz="1000" b="1" dirty="0"/>
              <a:t> </a:t>
            </a:r>
            <a:r>
              <a:rPr lang="ru-RU" sz="1000" b="1" dirty="0"/>
              <a:t>,</a:t>
            </a:r>
            <a:r>
              <a:rPr lang="ru-RU" sz="1000" dirty="0"/>
              <a:t>How clusters differ based on key characteristics: age, activity, spending, discounts, and type of goods purchased.</a:t>
            </a:r>
            <a:endParaRPr lang="ru-RU" sz="1000" b="1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5FEF9D-63C5-4590-B435-246DEF86B5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4" y="688886"/>
            <a:ext cx="5564369" cy="25429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1EFE2DD-ECC2-4DC7-89A8-84F6F7018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93" y="648344"/>
            <a:ext cx="5564368" cy="25644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BBE8F28-A3B0-4624-9F18-369A2819A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95" y="3663223"/>
            <a:ext cx="5594908" cy="2667931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8AE23C9-D80E-4FDA-BCC9-2C7D71D7B3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891" y="3689804"/>
            <a:ext cx="5564368" cy="256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97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927F55C-F217-4397-B589-116465FBD318}"/>
              </a:ext>
            </a:extLst>
          </p:cNvPr>
          <p:cNvSpPr/>
          <p:nvPr/>
        </p:nvSpPr>
        <p:spPr>
          <a:xfrm>
            <a:off x="2190309" y="196718"/>
            <a:ext cx="82933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0"/>
            <a:r>
              <a:rPr lang="ru-RU" sz="3200" dirty="0"/>
              <a:t>Final conclusions and recommendations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024324F-9742-426A-8E0F-5D608A4078AD}"/>
              </a:ext>
            </a:extLst>
          </p:cNvPr>
          <p:cNvSpPr/>
          <p:nvPr/>
        </p:nvSpPr>
        <p:spPr>
          <a:xfrm>
            <a:off x="467833" y="1427340"/>
            <a:ext cx="562816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Final conclusions: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>
                <a:effectLst/>
              </a:rPr>
              <a:t>The client base has been successfully segmented into 6 clusters with different behavioral profiles.</a:t>
            </a:r>
          </a:p>
          <a:p>
            <a:pPr algn="l" rtl="0"/>
            <a:endParaRPr lang="ru-RU" sz="1600" dirty="0">
              <a:effectLst/>
            </a:endParaRPr>
          </a:p>
          <a:p>
            <a:pPr algn="l" rtl="0"/>
            <a:r>
              <a:rPr lang="ru-RU" sz="1600" dirty="0">
                <a:effectLst/>
              </a:rPr>
              <a:t>A propensity to purchase model was built with high accuracy (ROC‑AUC = 0.776)</a:t>
            </a:r>
          </a:p>
          <a:p>
            <a:pPr algn="l" rtl="0"/>
            <a:endParaRPr lang="ru-RU" sz="1600" dirty="0">
              <a:effectLst/>
            </a:endParaRPr>
          </a:p>
          <a:p>
            <a:pPr algn="l" rtl="0"/>
            <a:r>
              <a:rPr lang="ru-RU" sz="1600" dirty="0">
                <a:effectLst/>
              </a:rPr>
              <a:t>The visualization showed a strong response in the upper deciles (up to 25.57%)</a:t>
            </a:r>
          </a:p>
          <a:p>
            <a:pPr algn="l" rtl="0"/>
            <a:endParaRPr lang="ru-RU" sz="1600" dirty="0">
              <a:effectLst/>
            </a:endParaRPr>
          </a:p>
          <a:p>
            <a:pPr algn="l" rtl="0"/>
            <a:r>
              <a:rPr lang="ru-RU" sz="1600" dirty="0">
                <a:effectLst/>
              </a:rPr>
              <a:t>Cluster 1 - Premium clients with maximum value</a:t>
            </a:r>
          </a:p>
          <a:p>
            <a:pPr algn="l" rtl="0"/>
            <a:endParaRPr lang="ru-RU" sz="1600" dirty="0">
              <a:effectLst/>
            </a:endParaRPr>
          </a:p>
          <a:p>
            <a:pPr algn="l" rtl="0"/>
            <a:r>
              <a:rPr lang="ru-RU" sz="1600" dirty="0">
                <a:effectLst/>
              </a:rPr>
              <a:t>Cluster 3 – discount clients sensitive to promotions</a:t>
            </a:r>
          </a:p>
          <a:p>
            <a:pPr algn="l" rtl="0"/>
            <a:endParaRPr lang="ru-RU" sz="1600" dirty="0">
              <a:effectLst/>
            </a:endParaRPr>
          </a:p>
          <a:p>
            <a:pPr algn="l" rtl="0"/>
            <a:r>
              <a:rPr lang="ru-RU" sz="1600" dirty="0">
                <a:effectLst/>
              </a:rPr>
              <a:t>Cluster 2 - a young audience, requires a separate approach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E615E0A-73E3-44ED-9EF9-0427265D0949}"/>
              </a:ext>
            </a:extLst>
          </p:cNvPr>
          <p:cNvSpPr/>
          <p:nvPr/>
        </p:nvSpPr>
        <p:spPr>
          <a:xfrm>
            <a:off x="6992681" y="1555719"/>
            <a:ext cx="493704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Recommendations:</a:t>
            </a:r>
          </a:p>
          <a:p>
            <a:pPr algn="l" rtl="0"/>
            <a:endParaRPr lang="ru-RU" sz="2400" dirty="0"/>
          </a:p>
          <a:p>
            <a:pPr algn="l" rtl="0"/>
            <a:r>
              <a:rPr lang="ru-RU" sz="1600" dirty="0"/>
              <a:t>Target the </a:t>
            </a:r>
            <a:r>
              <a:rPr lang="ru-RU" sz="1600" dirty="0" err="1"/>
              <a:t>top</a:t>
            </a:r>
            <a:r>
              <a:rPr lang="ru-RU" sz="1600" dirty="0"/>
              <a:t> </a:t>
            </a:r>
            <a:r>
              <a:rPr lang="ru-RU" sz="1600" dirty="0" err="1"/>
              <a:t>deciles</a:t>
            </a:r>
            <a:r>
              <a:rPr lang="ru-RU" sz="1600" dirty="0"/>
              <a:t> </a:t>
            </a:r>
            <a:r>
              <a:rPr lang="ru-RU" sz="1600" dirty="0" err="1"/>
              <a:t>propensitymodels</a:t>
            </a:r>
            <a:r>
              <a:rPr lang="ru-RU" sz="1600" dirty="0"/>
              <a:t> for increasing conversion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Use cluster profiles for personalized marketing campaigns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Retain Cluster 1 customers through premium offers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Activate Cluster 3 through discounts and promotions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Implement the model into CRM for automatic</a:t>
            </a:r>
            <a:r>
              <a:rPr lang="ru-RU" sz="1600" dirty="0" err="1"/>
              <a:t>prioritization</a:t>
            </a:r>
            <a:r>
              <a:rPr lang="ru-RU" sz="1600" dirty="0"/>
              <a:t>clients</a:t>
            </a:r>
          </a:p>
          <a:p>
            <a:pPr algn="l" rtl="0"/>
            <a:endParaRPr lang="ru-RU" sz="1600" dirty="0"/>
          </a:p>
          <a:p>
            <a:pPr algn="l" rtl="0"/>
            <a:r>
              <a:rPr lang="ru-RU" sz="1600" dirty="0"/>
              <a:t>Repeat the A/B test taking into account segmentation and scoring</a:t>
            </a:r>
            <a:endParaRPr lang="ru-RU" sz="2400" dirty="0"/>
          </a:p>
        </p:txBody>
      </p:sp>
      <p:sp>
        <p:nvSpPr>
          <p:cNvPr id="3" name="Стрелка: вправо 2">
            <a:extLst>
              <a:ext uri="{FF2B5EF4-FFF2-40B4-BE49-F238E27FC236}">
                <a16:creationId xmlns:a16="http://schemas.microsoft.com/office/drawing/2014/main" id="{F4ED5807-3A4C-4036-BA66-FAA9B57D145B}"/>
              </a:ext>
            </a:extLst>
          </p:cNvPr>
          <p:cNvSpPr/>
          <p:nvPr/>
        </p:nvSpPr>
        <p:spPr>
          <a:xfrm>
            <a:off x="6337006" y="3689498"/>
            <a:ext cx="552892" cy="4146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127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0C4388E-68CC-4F3A-AA42-E8C3ADD65894}"/>
              </a:ext>
            </a:extLst>
          </p:cNvPr>
          <p:cNvSpPr/>
          <p:nvPr/>
        </p:nvSpPr>
        <p:spPr>
          <a:xfrm>
            <a:off x="467833" y="1743739"/>
            <a:ext cx="11642651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2400" dirty="0"/>
              <a:t>The project covered:</a:t>
            </a:r>
          </a:p>
          <a:p>
            <a:pPr marL="342900" indent="-342900" algn="l" rtl="0">
              <a:buFont typeface="Wingdings" panose="05000000000000000000" pitchFamily="2" charset="2"/>
              <a:buChar char="ü"/>
            </a:pPr>
            <a:r>
              <a:rPr lang="ru-RU" sz="2000" dirty="0"/>
              <a:t>Complete processing and cleaning of client data</a:t>
            </a:r>
          </a:p>
          <a:p>
            <a:pPr marL="342900" indent="-342900" algn="l" rtl="0">
              <a:buFont typeface="Wingdings" panose="05000000000000000000" pitchFamily="2" charset="2"/>
              <a:buChar char="ü"/>
            </a:pPr>
            <a:r>
              <a:rPr lang="ru-RU" sz="2000" dirty="0"/>
              <a:t>Floor restoration with ML‑</a:t>
            </a:r>
            <a:r>
              <a:rPr lang="ru-RU" sz="2000" dirty="0" err="1"/>
              <a:t>Model</a:t>
            </a:r>
            <a:r>
              <a:rPr lang="ru-RU" sz="2000" dirty="0"/>
              <a:t>, A/B-testing and group formation</a:t>
            </a:r>
          </a:p>
          <a:p>
            <a:pPr marL="342900" indent="-342900" algn="l" rtl="0">
              <a:buFont typeface="Wingdings" panose="05000000000000000000" pitchFamily="2" charset="2"/>
              <a:buChar char="ü"/>
            </a:pPr>
            <a:r>
              <a:rPr lang="ru-RU" sz="2000" dirty="0"/>
              <a:t>Clustering and building customer profiles</a:t>
            </a:r>
          </a:p>
          <a:p>
            <a:pPr marL="342900" indent="-342900" algn="l" rtl="0">
              <a:buFont typeface="Wingdings" panose="05000000000000000000" pitchFamily="2" charset="2"/>
              <a:buChar char="ü"/>
            </a:pPr>
            <a:r>
              <a:rPr lang="ru-RU" sz="2000" dirty="0"/>
              <a:t>Propensity to Purchase Model and Response Visualization</a:t>
            </a:r>
          </a:p>
          <a:p>
            <a:pPr marL="342900" indent="-342900" algn="l" rtl="0">
              <a:buFont typeface="Wingdings" panose="05000000000000000000" pitchFamily="2" charset="2"/>
              <a:buChar char="ü"/>
            </a:pPr>
            <a:r>
              <a:rPr lang="ru-RU" sz="2000" dirty="0"/>
              <a:t>Final business conclusions and recommendations</a:t>
            </a:r>
            <a:endParaRPr lang="ru-RU" sz="1400" dirty="0">
              <a:effectLst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2B6C445-7539-4324-A1A4-F28129D9127F}"/>
              </a:ext>
            </a:extLst>
          </p:cNvPr>
          <p:cNvSpPr/>
          <p:nvPr/>
        </p:nvSpPr>
        <p:spPr>
          <a:xfrm>
            <a:off x="2179675" y="4040010"/>
            <a:ext cx="65602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b="1" dirty="0">
                <a:effectLst/>
              </a:rPr>
              <a:t>Result:</a:t>
            </a:r>
          </a:p>
          <a:p>
            <a:pPr algn="l" rtl="0"/>
            <a:r>
              <a:rPr lang="ru-RU" dirty="0">
                <a:effectLst/>
              </a:rPr>
              <a:t>Analytics allowed us to identify key segments, build a targeting model, and prepare the basis for personalized marketing campaigns.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F0C861E-C579-4106-BAAA-E8703A473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37" y="4073082"/>
            <a:ext cx="1318438" cy="107307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9B89107-10FD-418B-8AE9-F82E1EBA1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215" y="5427670"/>
            <a:ext cx="398972" cy="398972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98B5535-54EE-4B12-BB51-0DFFB832BAA4}"/>
              </a:ext>
            </a:extLst>
          </p:cNvPr>
          <p:cNvSpPr/>
          <p:nvPr/>
        </p:nvSpPr>
        <p:spPr>
          <a:xfrm>
            <a:off x="7924187" y="5427670"/>
            <a:ext cx="414083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ru-RU" sz="1400" dirty="0">
                <a:hlinkClick r:id="rId4"/>
              </a:rPr>
              <a:t>https://github.com/data-sakit/data-analyst-project</a:t>
            </a:r>
            <a:endParaRPr lang="ru-RU" sz="1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D31B5B2-B6D3-4E6C-909C-A6BA9584FA2C}"/>
              </a:ext>
            </a:extLst>
          </p:cNvPr>
          <p:cNvSpPr/>
          <p:nvPr/>
        </p:nvSpPr>
        <p:spPr>
          <a:xfrm>
            <a:off x="1905004" y="210883"/>
            <a:ext cx="823815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/>
              <a:t>Thank you for your attention</a:t>
            </a:r>
            <a:endParaRPr lang="ru-RU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13758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1577</Words>
  <Application>Microsoft Office PowerPoint</Application>
  <PresentationFormat>Широкоэкранный</PresentationFormat>
  <Paragraphs>300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Аналитический проект: анализ клиентов, A/B‑тест и модели ML</dc:title>
  <dc:creator>Sakit Mamedov</dc:creator>
  <cp:lastModifiedBy>Sakit Mamedov</cp:lastModifiedBy>
  <cp:revision>30</cp:revision>
  <dcterms:created xsi:type="dcterms:W3CDTF">2025-12-27T12:32:12Z</dcterms:created>
  <dcterms:modified xsi:type="dcterms:W3CDTF">2025-12-27T15:21:26Z</dcterms:modified>
</cp:coreProperties>
</file>